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8229600" cx="14630400"/>
  <p:notesSz cx="8229600" cy="14630400"/>
  <p:embeddedFontLs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S7wifQJQwCQK1xym/6EjzEBeW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f183ab1bf_0_1:notes"/>
          <p:cNvSpPr txBox="1"/>
          <p:nvPr>
            <p:ph idx="1" type="body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85" name="Google Shape;85;g3cf183ab1bf_0_1:notes"/>
          <p:cNvSpPr/>
          <p:nvPr>
            <p:ph idx="2" type="sldImg"/>
          </p:nvPr>
        </p:nvSpPr>
        <p:spPr>
          <a:xfrm>
            <a:off x="822960" y="1828800"/>
            <a:ext cx="65838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" type="body"/>
          </p:nvPr>
        </p:nvSpPr>
        <p:spPr>
          <a:xfrm>
            <a:off x="811987" y="2397761"/>
            <a:ext cx="559612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19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15" name="Google Shape;15;p21"/>
          <p:cNvSpPr txBox="1"/>
          <p:nvPr>
            <p:ph idx="2" type="body"/>
          </p:nvPr>
        </p:nvSpPr>
        <p:spPr>
          <a:xfrm>
            <a:off x="7213596" y="2397761"/>
            <a:ext cx="559612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19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811988" y="2414017"/>
            <a:ext cx="12904470" cy="4519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3"/>
          <p:cNvSpPr txBox="1"/>
          <p:nvPr>
            <p:ph type="ctrTitle"/>
          </p:nvPr>
        </p:nvSpPr>
        <p:spPr>
          <a:xfrm>
            <a:off x="724205" y="924560"/>
            <a:ext cx="12938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0"/>
              <a:buFont typeface="Century Gothic"/>
              <a:buNone/>
              <a:defRPr sz="1056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subTitle"/>
          </p:nvPr>
        </p:nvSpPr>
        <p:spPr>
          <a:xfrm>
            <a:off x="801015" y="5048251"/>
            <a:ext cx="11073841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chemeClr val="lt1"/>
              </a:buClr>
              <a:buSzPts val="3840"/>
              <a:buNone/>
              <a:defRPr sz="384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3360"/>
              <a:buNone/>
              <a:defRPr sz="3359"/>
            </a:lvl2pPr>
            <a:lvl3pPr lvl="2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880"/>
              <a:buNone/>
              <a:defRPr sz="2880"/>
            </a:lvl3pPr>
            <a:lvl4pPr lvl="3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4pPr>
            <a:lvl5pPr lvl="4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5pPr>
            <a:lvl6pPr lvl="5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6pPr>
            <a:lvl7pPr lvl="6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7pPr>
            <a:lvl8pPr lvl="7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8pPr>
            <a:lvl9pPr lvl="8" algn="ctr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724205" y="920903"/>
            <a:ext cx="12936931" cy="40270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60"/>
              <a:buFont typeface="Century Gothic"/>
              <a:buNone/>
              <a:defRPr b="0" sz="1056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801015" y="5045051"/>
            <a:ext cx="11071555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811987" y="2448560"/>
            <a:ext cx="5596128" cy="86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640"/>
              <a:buNone/>
              <a:defRPr b="0" sz="264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811987" y="3303701"/>
            <a:ext cx="5596128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19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42" name="Google Shape;42;p25"/>
          <p:cNvSpPr txBox="1"/>
          <p:nvPr>
            <p:ph idx="3" type="body"/>
          </p:nvPr>
        </p:nvSpPr>
        <p:spPr>
          <a:xfrm>
            <a:off x="7209130" y="2446122"/>
            <a:ext cx="5596128" cy="866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640"/>
              <a:buNone/>
              <a:defRPr b="0" sz="264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3" name="Google Shape;43;p25"/>
          <p:cNvSpPr txBox="1"/>
          <p:nvPr>
            <p:ph idx="4" type="body"/>
          </p:nvPr>
        </p:nvSpPr>
        <p:spPr>
          <a:xfrm>
            <a:off x="7209130" y="3301188"/>
            <a:ext cx="5596128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1pPr>
            <a:lvl2pPr indent="-3810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6576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Char char=" "/>
              <a:defRPr sz="2160"/>
            </a:lvl3pPr>
            <a:lvl4pPr indent="-350519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4pPr>
            <a:lvl5pPr indent="-35052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5pPr>
            <a:lvl6pPr indent="-35052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6pPr>
            <a:lvl7pPr indent="-35052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7pPr>
            <a:lvl8pPr indent="-35052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8pPr>
            <a:lvl9pPr indent="-35052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Char char=" "/>
              <a:defRPr sz="1920"/>
            </a:lvl9pPr>
          </a:lstStyle>
          <a:p/>
        </p:txBody>
      </p:sp>
      <p:sp>
        <p:nvSpPr>
          <p:cNvPr id="44" name="Google Shape;44;p25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8"/>
          <p:cNvSpPr txBox="1"/>
          <p:nvPr>
            <p:ph type="title"/>
          </p:nvPr>
        </p:nvSpPr>
        <p:spPr>
          <a:xfrm>
            <a:off x="9913685" y="650738"/>
            <a:ext cx="4059936" cy="23042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entury Gothic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" type="body"/>
          </p:nvPr>
        </p:nvSpPr>
        <p:spPr>
          <a:xfrm>
            <a:off x="914400" y="914400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3840"/>
              <a:buChar char=" "/>
              <a:defRPr sz="3840"/>
            </a:lvl1pPr>
            <a:lvl2pPr indent="-44196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3360"/>
              <a:buChar char=" "/>
              <a:defRPr sz="3359"/>
            </a:lvl2pPr>
            <a:lvl3pPr indent="-41148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880"/>
              <a:buChar char=" "/>
              <a:defRPr sz="2880"/>
            </a:lvl3pPr>
            <a:lvl4pPr indent="-3810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4pPr>
            <a:lvl5pPr indent="-3810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5pPr>
            <a:lvl6pPr indent="-3810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6pPr>
            <a:lvl7pPr indent="-3810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7pPr>
            <a:lvl8pPr indent="-3810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8pPr>
            <a:lvl9pPr indent="-3810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9pPr>
          </a:lstStyle>
          <a:p/>
        </p:txBody>
      </p:sp>
      <p:sp>
        <p:nvSpPr>
          <p:cNvPr id="60" name="Google Shape;60;p28"/>
          <p:cNvSpPr txBox="1"/>
          <p:nvPr>
            <p:ph idx="2" type="body"/>
          </p:nvPr>
        </p:nvSpPr>
        <p:spPr>
          <a:xfrm>
            <a:off x="9931178" y="3014176"/>
            <a:ext cx="4078224" cy="37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Century Gothic"/>
              <a:buNone/>
              <a:defRPr sz="216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440"/>
              <a:buNone/>
              <a:defRPr sz="144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9pPr>
          </a:lstStyle>
          <a:p/>
        </p:txBody>
      </p:sp>
      <p:sp>
        <p:nvSpPr>
          <p:cNvPr id="61" name="Google Shape;61;p28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type="title"/>
          </p:nvPr>
        </p:nvSpPr>
        <p:spPr>
          <a:xfrm>
            <a:off x="779069" y="6502401"/>
            <a:ext cx="12936931" cy="7359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40"/>
              <a:buFont typeface="Century Gothic"/>
              <a:buNone/>
              <a:defRPr b="0" sz="384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/>
          <p:nvPr>
            <p:ph idx="2" type="pic"/>
          </p:nvPr>
        </p:nvSpPr>
        <p:spPr>
          <a:xfrm>
            <a:off x="0" y="0"/>
            <a:ext cx="14630400" cy="6397142"/>
          </a:xfrm>
          <a:prstGeom prst="rect">
            <a:avLst/>
          </a:prstGeom>
          <a:solidFill>
            <a:srgbClr val="B7E0E9"/>
          </a:solidFill>
          <a:ln>
            <a:noFill/>
          </a:ln>
        </p:spPr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811987" y="7091682"/>
            <a:ext cx="1107521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80"/>
              <a:buNone/>
              <a:defRPr sz="1679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440"/>
              <a:buNone/>
              <a:defRPr sz="1440"/>
            </a:lvl2pPr>
            <a:lvl3pPr indent="-2286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4pPr>
            <a:lvl5pPr indent="-2286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5pPr>
            <a:lvl6pPr indent="-2286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6pPr>
            <a:lvl7pPr indent="-2286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7pPr>
            <a:lvl8pPr indent="-2286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8pPr>
            <a:lvl9pPr indent="-2286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080"/>
              <a:buNone/>
              <a:defRPr sz="1080"/>
            </a:lvl9pPr>
          </a:lstStyle>
          <a:p/>
        </p:txBody>
      </p:sp>
      <p:sp>
        <p:nvSpPr>
          <p:cNvPr id="68" name="Google Shape;68;p29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" type="body"/>
          </p:nvPr>
        </p:nvSpPr>
        <p:spPr>
          <a:xfrm rot="5400000">
            <a:off x="5004512" y="-1778507"/>
            <a:ext cx="4519422" cy="129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1"/>
          <p:cNvSpPr txBox="1"/>
          <p:nvPr>
            <p:ph type="title"/>
          </p:nvPr>
        </p:nvSpPr>
        <p:spPr>
          <a:xfrm rot="5400000">
            <a:off x="9189720" y="2137410"/>
            <a:ext cx="57607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" type="body"/>
          </p:nvPr>
        </p:nvSpPr>
        <p:spPr>
          <a:xfrm rot="5400000">
            <a:off x="2326005" y="-542924"/>
            <a:ext cx="6480810" cy="928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80"/>
              <a:buFont typeface="Century Gothic"/>
              <a:buNone/>
              <a:defRPr b="0" i="0" sz="648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11988" y="2414017"/>
            <a:ext cx="12904470" cy="4519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marR="0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880"/>
              <a:buFont typeface="Arial"/>
              <a:buChar char=" "/>
              <a:defRPr b="0" i="0" sz="288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11480" lvl="1" marL="9144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880"/>
              <a:buFont typeface="Arial"/>
              <a:buChar char=" "/>
              <a:defRPr b="0" i="0" sz="288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1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65760" lvl="3" marL="18288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65760" lvl="4" marL="22860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65760" lvl="5" marL="27432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65760" lvl="6" marL="32004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65759" lvl="7" marL="36576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65759" lvl="8" marL="4114800" marR="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Arial"/>
              <a:buChar char=" "/>
              <a:defRPr b="0" i="0" sz="216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22960" y="769493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4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822960" y="7865636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4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0516711" y="7051695"/>
            <a:ext cx="3511296" cy="1676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60"/>
              <a:buFont typeface="Arial"/>
              <a:buNone/>
              <a:defRPr b="0" i="0" sz="1236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arrollo móvil: cómo funciona el mercado - beecrowd" id="87" name="Google Shape;87;g3cf183ab1bf_0_1"/>
          <p:cNvPicPr preferRelativeResize="0"/>
          <p:nvPr/>
        </p:nvPicPr>
        <p:blipFill rotWithShape="1">
          <a:blip r:embed="rId3">
            <a:alphaModFix/>
          </a:blip>
          <a:srcRect b="19897" l="0" r="0" t="5107"/>
          <a:stretch/>
        </p:blipFill>
        <p:spPr>
          <a:xfrm>
            <a:off x="0" y="1"/>
            <a:ext cx="14630398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cf183ab1bf_0_1"/>
          <p:cNvSpPr/>
          <p:nvPr/>
        </p:nvSpPr>
        <p:spPr>
          <a:xfrm>
            <a:off x="5602250" y="3851910"/>
            <a:ext cx="9028200" cy="2766300"/>
          </a:xfrm>
          <a:prstGeom prst="rect">
            <a:avLst/>
          </a:prstGeom>
          <a:solidFill>
            <a:srgbClr val="0C0C0C">
              <a:alpha val="49800"/>
            </a:srgbClr>
          </a:solidFill>
          <a:ln>
            <a:noFill/>
          </a:ln>
        </p:spPr>
        <p:txBody>
          <a:bodyPr anchorCtr="0" anchor="ctr" bIns="54850" lIns="109700" spcFirstLastPara="1" rIns="10970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g3cf183ab1bf_0_1"/>
          <p:cNvSpPr txBox="1"/>
          <p:nvPr>
            <p:ph type="title"/>
          </p:nvPr>
        </p:nvSpPr>
        <p:spPr>
          <a:xfrm>
            <a:off x="5982620" y="4010033"/>
            <a:ext cx="77649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b" bIns="54850" lIns="109700" spcFirstLastPara="1" rIns="109700" wrap="square" tIns="548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entury Gothic"/>
              <a:buNone/>
            </a:pPr>
            <a:r>
              <a:rPr lang="en-US" sz="3800">
                <a:solidFill>
                  <a:schemeClr val="lt1"/>
                </a:solidFill>
              </a:rPr>
              <a:t>Estructuras de Datos II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g3cf183ab1bf_0_1"/>
          <p:cNvSpPr txBox="1"/>
          <p:nvPr>
            <p:ph idx="1" type="body"/>
          </p:nvPr>
        </p:nvSpPr>
        <p:spPr>
          <a:xfrm>
            <a:off x="5982619" y="5592390"/>
            <a:ext cx="81771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09700" spcFirstLastPara="1" rIns="109700" wrap="square" tIns="5485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</a:pPr>
            <a: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JONATHAN LÓPEZ LONDOÑO</a:t>
            </a:r>
            <a:b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JLOPEZL@UAO.EDU.CO</a:t>
            </a:r>
            <a:b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9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315 926 5443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788669" y="599439"/>
            <a:ext cx="7835786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rPr lang="en-US" sz="5400"/>
              <a:t>Linked Lists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964387" y="2550161"/>
            <a:ext cx="617416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10972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like Arrays in JavaScript, but not the same.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a structure of linked elements.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5331" y="2129425"/>
            <a:ext cx="5486400" cy="167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1447" y="4619244"/>
            <a:ext cx="6174168" cy="2451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Linked Lists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11987" y="2397761"/>
            <a:ext cx="559612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10972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✓ Node: Every element in the list. Each node will have 2 parts:</a:t>
            </a:r>
            <a:endParaRPr/>
          </a:p>
          <a:p>
            <a:pPr indent="-354013" lvl="1" marL="71755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⮚"/>
            </a:pPr>
            <a:r>
              <a:rPr lang="en-US" sz="1920"/>
              <a:t>Value (node ​​data). </a:t>
            </a:r>
            <a:endParaRPr/>
          </a:p>
          <a:p>
            <a:pPr indent="-354013" lvl="1" marL="71755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⮚"/>
            </a:pPr>
            <a:r>
              <a:rPr lang="en-US" sz="1920"/>
              <a:t>Reference (pointer) to the next node in the list.</a:t>
            </a:r>
            <a:endParaRPr/>
          </a:p>
          <a:p>
            <a:pPr indent="0" lvl="1" marL="5486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n-US" sz="2400"/>
              <a:t> ✓ Head: Is the first node in the list.</a:t>
            </a:r>
            <a:endParaRPr/>
          </a:p>
          <a:p>
            <a:pPr indent="-152400" lvl="0" marL="109728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✓ Pointer: Link to next object.</a:t>
            </a:r>
            <a:endParaRPr/>
          </a:p>
          <a:p>
            <a:pPr indent="-152400" lvl="0" marL="109728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✓ Tail: Last node in the list, this node will point to null.</a:t>
            </a:r>
            <a:endParaRPr sz="2400"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831" y="2888944"/>
            <a:ext cx="6174168" cy="2451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Linked Lists Methods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811985" y="2397761"/>
            <a:ext cx="6700641" cy="5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728" lvl="0" marL="109728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</a:pPr>
            <a:r>
              <a:rPr lang="en-US" sz="1600"/>
              <a:t>A list must have methods that allow adding new elements, removing them and reviewing them (one or more).</a:t>
            </a:r>
            <a:endParaRPr/>
          </a:p>
          <a:p>
            <a:pPr indent="-109728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</a:pPr>
            <a:r>
              <a:rPr lang="en-US" sz="1600"/>
              <a:t>We can make our own implementation and call these methods in any way.</a:t>
            </a:r>
            <a:endParaRPr/>
          </a:p>
          <a:p>
            <a:pPr indent="-109728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</a:pPr>
            <a:r>
              <a:rPr lang="en-US" sz="1600"/>
              <a:t>There is an agreed convention of using the following definitions:</a:t>
            </a:r>
            <a:endParaRPr/>
          </a:p>
          <a:p>
            <a:pPr indent="-109728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✔"/>
            </a:pPr>
            <a:r>
              <a:rPr lang="en-US" sz="1600"/>
              <a:t> </a:t>
            </a:r>
            <a:r>
              <a:rPr b="1" lang="en-US" sz="1600"/>
              <a:t>append</a:t>
            </a:r>
            <a:r>
              <a:rPr lang="en-US" sz="1600"/>
              <a:t>: Adds a new node to the list, placing it at any place you like, even at bottom of the list.</a:t>
            </a:r>
            <a:endParaRPr/>
          </a:p>
          <a:p>
            <a:pPr indent="-109728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✔"/>
            </a:pPr>
            <a:r>
              <a:rPr lang="en-US" sz="1600"/>
              <a:t> </a:t>
            </a:r>
            <a:r>
              <a:rPr b="1" lang="en-US" sz="1600"/>
              <a:t>peek</a:t>
            </a:r>
            <a:r>
              <a:rPr lang="en-US" sz="1600"/>
              <a:t>: Returns some node entered on the list.</a:t>
            </a:r>
            <a:endParaRPr/>
          </a:p>
          <a:p>
            <a:pPr indent="-109728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✔"/>
            </a:pPr>
            <a:r>
              <a:rPr lang="en-US" sz="1600"/>
              <a:t> </a:t>
            </a:r>
            <a:r>
              <a:rPr b="1" lang="en-US" sz="1600"/>
              <a:t>size</a:t>
            </a:r>
            <a:r>
              <a:rPr lang="en-US" sz="1600"/>
              <a:t>: Returns the number of elements in the list.</a:t>
            </a:r>
            <a:endParaRPr/>
          </a:p>
          <a:p>
            <a:pPr indent="-109728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✔"/>
            </a:pPr>
            <a:r>
              <a:rPr lang="en-US" sz="1600"/>
              <a:t> </a:t>
            </a:r>
            <a:r>
              <a:rPr b="1" lang="en-US" sz="1600"/>
              <a:t>remove</a:t>
            </a:r>
            <a:r>
              <a:rPr lang="en-US" sz="1600"/>
              <a:t>: Removes a node from the list and joins previous and next node from this removed.</a:t>
            </a:r>
            <a:endParaRPr/>
          </a:p>
          <a:p>
            <a:pPr indent="-109728" lvl="0" marL="109728" rtl="0" algn="l">
              <a:lnSpc>
                <a:spcPct val="12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✔"/>
            </a:pPr>
            <a:r>
              <a:rPr lang="en-US" sz="1600"/>
              <a:t> </a:t>
            </a:r>
            <a:r>
              <a:rPr b="1" lang="en-US" sz="1600"/>
              <a:t>print</a:t>
            </a:r>
            <a:r>
              <a:rPr lang="en-US" sz="1600"/>
              <a:t>: Prints the contents of the stack.</a:t>
            </a:r>
            <a:endParaRPr sz="1600"/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4291" y="3112538"/>
            <a:ext cx="5611090" cy="2228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11986" y="2397761"/>
            <a:ext cx="12904013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First, you need to use a </a:t>
            </a:r>
            <a:r>
              <a:rPr b="1" lang="en-US" sz="2000"/>
              <a:t>Node Class</a:t>
            </a:r>
            <a:r>
              <a:rPr lang="en-US" sz="2000"/>
              <a:t>, with a value and a next in the constructor.</a:t>
            </a:r>
            <a:endParaRPr sz="2000"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987" y="3479832"/>
            <a:ext cx="3589755" cy="2548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788669" y="599439"/>
            <a:ext cx="7810017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811987" y="2589277"/>
            <a:ext cx="6503214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Second, you need to use a </a:t>
            </a:r>
            <a:r>
              <a:rPr b="1" lang="en-US" sz="2000"/>
              <a:t>LinkedList class </a:t>
            </a:r>
            <a:r>
              <a:rPr lang="en-US" sz="2000"/>
              <a:t>with a head, a tail and a length in the constructor method.</a:t>
            </a:r>
            <a:endParaRPr sz="2000"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8686" y="832752"/>
            <a:ext cx="5168829" cy="65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788669" y="599439"/>
            <a:ext cx="8583931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11987" y="2589277"/>
            <a:ext cx="6503214" cy="4329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Third, you need to implement basic methods:</a:t>
            </a:r>
            <a:endParaRPr/>
          </a:p>
          <a:p>
            <a:pPr indent="-1270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Noto Sans Symbols"/>
              <a:buChar char="✔"/>
            </a:pPr>
            <a:r>
              <a:rPr lang="en-US" sz="2000"/>
              <a:t> </a:t>
            </a:r>
            <a:r>
              <a:rPr b="1" lang="en-US" sz="2000"/>
              <a:t>append:</a:t>
            </a:r>
            <a:r>
              <a:rPr lang="en-US" sz="2000"/>
              <a:t> Adds a new node to the list, placing it at any place you like, even at bottom of the list.</a:t>
            </a:r>
            <a:endParaRPr sz="2000"/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1096" y="381523"/>
            <a:ext cx="4561386" cy="7466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788669" y="599439"/>
            <a:ext cx="8583931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811987" y="2589277"/>
            <a:ext cx="6503214" cy="4329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Third, you need to implement basic methods:</a:t>
            </a:r>
            <a:endParaRPr/>
          </a:p>
          <a:p>
            <a:pPr indent="-1270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✓ </a:t>
            </a:r>
            <a:r>
              <a:rPr b="1" lang="en-US" sz="2000"/>
              <a:t>peek: </a:t>
            </a:r>
            <a:r>
              <a:rPr lang="en-US" sz="2000"/>
              <a:t>Returns some node entered on the list.</a:t>
            </a:r>
            <a:endParaRPr sz="2000"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1993" y="389194"/>
            <a:ext cx="4445798" cy="7451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788669" y="599439"/>
            <a:ext cx="8583931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811987" y="2589277"/>
            <a:ext cx="6503214" cy="4329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Third, you need to implement basic methods:</a:t>
            </a:r>
            <a:endParaRPr/>
          </a:p>
          <a:p>
            <a:pPr indent="-1270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✓ </a:t>
            </a:r>
            <a:r>
              <a:rPr b="1" lang="en-US" sz="2000"/>
              <a:t>size: </a:t>
            </a:r>
            <a:r>
              <a:rPr lang="en-US" sz="2000"/>
              <a:t>Returns the number of elements in the list.</a:t>
            </a:r>
            <a:endParaRPr sz="2000"/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1532" y="1156244"/>
            <a:ext cx="4735868" cy="5971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788669" y="599439"/>
            <a:ext cx="8583931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811987" y="2589277"/>
            <a:ext cx="6503214" cy="4329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Third, you need to implement basic methods:</a:t>
            </a:r>
            <a:endParaRPr/>
          </a:p>
          <a:p>
            <a:pPr indent="-1270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✓ </a:t>
            </a:r>
            <a:r>
              <a:rPr b="1" lang="en-US" sz="2000"/>
              <a:t>remove:</a:t>
            </a:r>
            <a:r>
              <a:rPr lang="en-US" sz="2000"/>
              <a:t> Removes a node from the list and joins previous and next node from this removed.</a:t>
            </a:r>
            <a:endParaRPr sz="2000"/>
          </a:p>
        </p:txBody>
      </p:sp>
      <p:pic>
        <p:nvPicPr>
          <p:cNvPr id="154" name="Google Shape;1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0993" y="7"/>
            <a:ext cx="4467849" cy="7763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>
            <a:off x="788669" y="599439"/>
            <a:ext cx="8583931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811987" y="2589277"/>
            <a:ext cx="6503214" cy="4329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Third, you need to implement basic methods:</a:t>
            </a:r>
            <a:endParaRPr/>
          </a:p>
          <a:p>
            <a:pPr indent="-127000" lvl="0" marL="109728" rtl="0" algn="l">
              <a:lnSpc>
                <a:spcPct val="85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✓ </a:t>
            </a:r>
            <a:r>
              <a:rPr b="1" lang="en-US" sz="2000"/>
              <a:t>print:</a:t>
            </a:r>
            <a:r>
              <a:rPr lang="en-US" sz="2000"/>
              <a:t> Prints the contents of the stack.</a:t>
            </a:r>
            <a:endParaRPr sz="2000"/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9858" y="675089"/>
            <a:ext cx="4545813" cy="6879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788669" y="599439"/>
            <a:ext cx="7835786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rPr lang="en-US" sz="5400"/>
              <a:t>Double Linked Lists</a:t>
            </a:r>
            <a:endParaRPr/>
          </a:p>
        </p:txBody>
      </p:sp>
      <p:sp>
        <p:nvSpPr>
          <p:cNvPr id="167" name="Google Shape;167;p12"/>
          <p:cNvSpPr txBox="1"/>
          <p:nvPr/>
        </p:nvSpPr>
        <p:spPr>
          <a:xfrm>
            <a:off x="964387" y="2550161"/>
            <a:ext cx="617416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10972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a structure of linked elements by its previous and its next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240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used to go through the list from head to tail and vice versa.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2402" y="2179843"/>
            <a:ext cx="5739329" cy="3869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Linked Lists</a:t>
            </a:r>
            <a:endParaRPr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811987" y="2397761"/>
            <a:ext cx="559612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10972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✓ Node: Every element in the list. Each node will have 2 parts:</a:t>
            </a:r>
            <a:endParaRPr/>
          </a:p>
          <a:p>
            <a:pPr indent="-354013" lvl="1" marL="71755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⮚"/>
            </a:pPr>
            <a:r>
              <a:rPr lang="en-US" sz="1920"/>
              <a:t>Value (node ​​data). </a:t>
            </a:r>
            <a:endParaRPr/>
          </a:p>
          <a:p>
            <a:pPr indent="-354013" lvl="1" marL="71755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⮚"/>
            </a:pPr>
            <a:r>
              <a:rPr lang="en-US" sz="1920"/>
              <a:t>Reference (pointer) to the next node in the list.</a:t>
            </a:r>
            <a:endParaRPr/>
          </a:p>
          <a:p>
            <a:pPr indent="0" lvl="1" marL="5486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n-US" sz="2400"/>
              <a:t> ✓ Head: Is the first node in the list.</a:t>
            </a:r>
            <a:endParaRPr/>
          </a:p>
          <a:p>
            <a:pPr indent="-152400" lvl="0" marL="109728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✓ Pointer: Link to </a:t>
            </a:r>
            <a:r>
              <a:rPr b="1" lang="en-US" sz="2400"/>
              <a:t>next/previous</a:t>
            </a:r>
            <a:r>
              <a:rPr lang="en-US" sz="2400"/>
              <a:t> object..</a:t>
            </a:r>
            <a:endParaRPr/>
          </a:p>
          <a:p>
            <a:pPr indent="-152400" lvl="0" marL="109728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✓ Tail: Last node in the list, this node will point to null.</a:t>
            </a:r>
            <a:endParaRPr sz="2400"/>
          </a:p>
        </p:txBody>
      </p:sp>
      <p:pic>
        <p:nvPicPr>
          <p:cNvPr id="175" name="Google Shape;1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8064" y="3109608"/>
            <a:ext cx="6980349" cy="201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811986" y="2397761"/>
            <a:ext cx="12904013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First, just add a previous constructor of </a:t>
            </a:r>
            <a:r>
              <a:rPr b="1" lang="en-US" sz="2000"/>
              <a:t>Node Class</a:t>
            </a:r>
            <a:r>
              <a:rPr lang="en-US" sz="2000"/>
              <a:t>.</a:t>
            </a:r>
            <a:endParaRPr sz="2000"/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3651" y="3376824"/>
            <a:ext cx="3623097" cy="271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type="title"/>
          </p:nvPr>
        </p:nvSpPr>
        <p:spPr>
          <a:xfrm>
            <a:off x="788669" y="599439"/>
            <a:ext cx="7810017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88" name="Google Shape;188;p15"/>
          <p:cNvSpPr txBox="1"/>
          <p:nvPr>
            <p:ph idx="1" type="body"/>
          </p:nvPr>
        </p:nvSpPr>
        <p:spPr>
          <a:xfrm>
            <a:off x="811987" y="2589277"/>
            <a:ext cx="6503214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Second, add a previous in the </a:t>
            </a:r>
            <a:r>
              <a:rPr b="1" lang="en-US" sz="2000"/>
              <a:t>append</a:t>
            </a:r>
            <a:r>
              <a:rPr lang="en-US" sz="2000"/>
              <a:t> method of LinkedList Class.</a:t>
            </a:r>
            <a:endParaRPr sz="2000"/>
          </a:p>
        </p:txBody>
      </p:sp>
      <p:pic>
        <p:nvPicPr>
          <p:cNvPr id="189" name="Google Shape;1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339" y="1257587"/>
            <a:ext cx="4396851" cy="57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type="title"/>
          </p:nvPr>
        </p:nvSpPr>
        <p:spPr>
          <a:xfrm>
            <a:off x="788669" y="599439"/>
            <a:ext cx="8583931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entury Gothic"/>
              <a:buNone/>
            </a:pPr>
            <a:r>
              <a:rPr lang="en-US"/>
              <a:t>How to implement Linked Lists?</a:t>
            </a:r>
            <a:endParaRPr/>
          </a:p>
        </p:txBody>
      </p:sp>
      <p:sp>
        <p:nvSpPr>
          <p:cNvPr id="195" name="Google Shape;195;p16"/>
          <p:cNvSpPr txBox="1"/>
          <p:nvPr>
            <p:ph idx="1" type="body"/>
          </p:nvPr>
        </p:nvSpPr>
        <p:spPr>
          <a:xfrm>
            <a:off x="811987" y="2589277"/>
            <a:ext cx="6503214" cy="4329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0972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</a:pPr>
            <a:r>
              <a:rPr lang="en-US" sz="2000"/>
              <a:t>Third, add a previous in the </a:t>
            </a:r>
            <a:r>
              <a:rPr b="1" lang="en-US" sz="2000"/>
              <a:t>remove</a:t>
            </a:r>
            <a:r>
              <a:rPr lang="en-US" sz="2000"/>
              <a:t> method of LinkedList Class.</a:t>
            </a:r>
            <a:endParaRPr sz="2000"/>
          </a:p>
        </p:txBody>
      </p:sp>
      <p:pic>
        <p:nvPicPr>
          <p:cNvPr id="196" name="Google Shape;196;p16"/>
          <p:cNvPicPr preferRelativeResize="0"/>
          <p:nvPr/>
        </p:nvPicPr>
        <p:blipFill rotWithShape="1">
          <a:blip r:embed="rId3">
            <a:alphaModFix/>
          </a:blip>
          <a:srcRect b="7283" l="0" r="0" t="21590"/>
          <a:stretch/>
        </p:blipFill>
        <p:spPr>
          <a:xfrm>
            <a:off x="8400148" y="462686"/>
            <a:ext cx="5441583" cy="7304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>
            <p:ph type="title"/>
          </p:nvPr>
        </p:nvSpPr>
        <p:spPr>
          <a:xfrm>
            <a:off x="788669" y="599439"/>
            <a:ext cx="7835786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rPr lang="en-US" sz="5400"/>
              <a:t>Circular Linked Lists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64387" y="2550161"/>
            <a:ext cx="6174168" cy="4520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10972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a structure of linked elements from their last node to their first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52400" lvl="0" marL="109728" marR="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used to go through the list from tail to head.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as Circulares Simples en Java - CÓDIGO Libre"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7935" y="3252441"/>
            <a:ext cx="6748895" cy="1724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788669" y="599439"/>
            <a:ext cx="12927330" cy="198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6000"/>
              <a:t>CHALLENGE 03</a:t>
            </a:r>
            <a:endParaRPr/>
          </a:p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811988" y="2414017"/>
            <a:ext cx="5432948" cy="4519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Implement a linked list to play songs in order. Fill the list with mocked data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Implement a doubly linked list to navigate back and forward between visited pages in the browser . Fill the list with fake data</a:t>
            </a:r>
            <a:endParaRPr sz="2000"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Create a project in react with 2 new pages, linked and doubly linked lists.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AutoNum type="arabicPeriod"/>
            </a:pPr>
            <a:r>
              <a:rPr lang="en-US" sz="2000"/>
              <a:t>Use the implemented lists in each page. Navigate through the lists by using buttons inside the pages</a:t>
            </a:r>
            <a:endParaRPr sz="2000"/>
          </a:p>
        </p:txBody>
      </p:sp>
      <p:pic>
        <p:nvPicPr>
          <p:cNvPr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841" y="1"/>
            <a:ext cx="821056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politano">
  <a:themeElements>
    <a:clrScheme name="Metropolitano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2025-01-30T02:43:37Z</dcterms:created>
  <dc:creator>PptxGenJS</dc:creator>
</cp:coreProperties>
</file>